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1"/>
  </p:notesMasterIdLst>
  <p:sldIdLst>
    <p:sldId id="257" r:id="rId2"/>
    <p:sldId id="717" r:id="rId3"/>
    <p:sldId id="750" r:id="rId4"/>
    <p:sldId id="718" r:id="rId5"/>
    <p:sldId id="729" r:id="rId6"/>
    <p:sldId id="753" r:id="rId7"/>
    <p:sldId id="760" r:id="rId8"/>
    <p:sldId id="721" r:id="rId9"/>
    <p:sldId id="723" r:id="rId10"/>
    <p:sldId id="748" r:id="rId11"/>
    <p:sldId id="742" r:id="rId12"/>
    <p:sldId id="743" r:id="rId13"/>
    <p:sldId id="759" r:id="rId14"/>
    <p:sldId id="758" r:id="rId15"/>
    <p:sldId id="757" r:id="rId16"/>
    <p:sldId id="727" r:id="rId17"/>
    <p:sldId id="754" r:id="rId18"/>
    <p:sldId id="756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3BBA61-FFCB-0343-474E-4D954277E3D3}" name="Yue Gao" initials="YG" userId="S::YuGao@clarku.edu::cc43c5c7-4468-42c7-8843-65f2a76eb518" providerId="AD"/>
  <p188:author id="{B01A7DB4-EC21-A6CD-19E9-987E64BCDA7F}" name="Vemuri, Lahari Chowdary" initials="VL" userId="S::lvemuri@clarku.edu::4700ed71-2c14-45ae-a96a-e056b12149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8F28"/>
    <a:srgbClr val="44B1D3"/>
    <a:srgbClr val="51AA65"/>
    <a:srgbClr val="233D5C"/>
    <a:srgbClr val="DB624C"/>
    <a:srgbClr val="41A8D3"/>
    <a:srgbClr val="F50000"/>
    <a:srgbClr val="305693"/>
    <a:srgbClr val="EFF5F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EADC4C-AA29-4C29-A50E-5DCD0946EE40}" v="75" dt="2025-04-24T21:29:27.443"/>
    <p1510:client id="{71488791-3AC9-1700-88F3-60FB147CFC16}" v="274" dt="2025-04-25T19:43:03.302"/>
    <p1510:client id="{8468D234-9444-8A32-0732-13704907888E}" v="114" dt="2025-04-24T21:31:37.251"/>
    <p1510:client id="{8E198604-DF09-9DD6-4312-28B698A172F0}" v="267" dt="2025-04-24T21:22:59.781"/>
    <p1510:client id="{917B317E-BF20-0C65-7985-52C620DB0F62}" v="2" dt="2025-04-24T21:32:33.225"/>
    <p1510:client id="{AFAA0D86-3887-12EC-0ADC-D95AA73C6E8A}" v="118" dt="2025-04-24T21:13:40.8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56" autoAdjust="0"/>
  </p:normalViewPr>
  <p:slideViewPr>
    <p:cSldViewPr snapToGrid="0">
      <p:cViewPr>
        <p:scale>
          <a:sx n="75" d="100"/>
          <a:sy n="75" d="100"/>
        </p:scale>
        <p:origin x="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F14A5-6D7A-46A3-BA2A-9C1145CED4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54A63-171E-462A-9E03-68B103564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36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554A63-171E-462A-9E03-68B103564E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75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54A63-171E-462A-9E03-68B103564E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49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54A63-171E-462A-9E03-68B103564EB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82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WorkDrive/___CLARK/___All_Jobs/__BRANDING/___2015/PPT/__BoT_PPT/__BoT_FINAL_PPT_Template_Art/__PPT_BoT_Section_Divider_Logo_Tag-02.png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A3CA-D0F1-4A82-898F-0EA3BB4814FB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0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7C62-ACB8-4966-A0AE-90ACAF659DEE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5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237D-7BF2-4598-B7B5-3412F15DF0E1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9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9122C-EA1D-4DBC-B19E-69953C5CFA1B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0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20E-5265-4DB7-AA1D-8F099910B2AB}" type="datetime1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61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2C9DD-639F-4A5C-B377-F64BE5475A4A}" type="datetime1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5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596A8-F4FC-4E60-ACAD-CD48FC54C800}" type="datetime1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143CCDCB-14D9-CF1A-AF96-23E0B59441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417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85EA-642F-4E4E-B456-5BA6B66D512C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44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D75-622E-4EEC-8C9B-770104F9FE40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0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EC12-6C93-4B2D-A3B8-3651E58C0471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195D5A0-E1E3-ECEA-E388-416775924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05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471-F87C-4E14-BBB4-7A67539B09C1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A3A01F-8751-387F-571D-719A90989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0292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__PPT_BoT_Section_Divider_Logo_Tag-02.png" descr="/Volumes/WorkDrive/___CLARK/___All_Jobs/__BRANDING/___2015/PPT/__BoT_PPT/__BoT_FINAL_PPT_Template_Art/__PPT_BoT_Section_Divider_Logo_Tag-02.png"/>
          <p:cNvPicPr>
            <a:picLocks noChangeAspect="1"/>
          </p:cNvPicPr>
          <p:nvPr userDrawn="1"/>
        </p:nvPicPr>
        <p:blipFill rotWithShape="1"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" t="11713" r="819" b="1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32178" y="1"/>
            <a:ext cx="10967156" cy="2504508"/>
          </a:xfrm>
        </p:spPr>
        <p:txBody>
          <a:bodyPr lIns="0" tIns="228600" rIns="0" bIns="0" anchor="b" anchorCtr="0">
            <a:noAutofit/>
          </a:bodyPr>
          <a:lstStyle>
            <a:lvl1pPr algn="ctr">
              <a:lnSpc>
                <a:spcPts val="4600"/>
              </a:lnSpc>
              <a:spcAft>
                <a:spcPts val="0"/>
              </a:spcAft>
              <a:defRPr sz="4000" cap="all" spc="17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Use this for section head </a:t>
            </a:r>
            <a:br>
              <a:rPr lang="en-US" dirty="0"/>
            </a:br>
            <a:r>
              <a:rPr lang="en-US" dirty="0"/>
              <a:t>or last slide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622300" y="5291040"/>
            <a:ext cx="4116917" cy="154781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285750" indent="0">
              <a:buFont typeface="Arial"/>
              <a:buNone/>
              <a:defRPr sz="1800"/>
            </a:lvl2pPr>
            <a:lvl3pPr marL="287337" indent="0">
              <a:buNone/>
              <a:defRPr sz="1800"/>
            </a:lvl3pPr>
            <a:lvl4pPr marL="511175" indent="0">
              <a:buFont typeface="Arial"/>
              <a:buNone/>
              <a:defRPr sz="1800"/>
            </a:lvl4pPr>
            <a:lvl5pPr marL="522288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21638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E670C-A3F6-4F6F-9347-C888FD4944ED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16933" y="0"/>
            <a:ext cx="12175067" cy="139337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8100000" scaled="1"/>
            <a:tileRect/>
          </a:gra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6718663"/>
            <a:ext cx="12175067" cy="139337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8100000" scaled="1"/>
            <a:tileRect/>
          </a:gra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 bwMode="auto">
          <a:xfrm>
            <a:off x="838200" y="1583532"/>
            <a:ext cx="10515600" cy="62706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8100000" scaled="1"/>
            <a:tileRect/>
          </a:gra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0F9BF8-9135-69C1-F59B-7A8A9A62A2E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176963"/>
            <a:ext cx="1550851" cy="54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580957"/>
            <a:ext cx="10515600" cy="1325563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Predicting Fuel </a:t>
            </a:r>
            <a:br>
              <a:rPr lang="en-US" b="1" dirty="0"/>
            </a:br>
            <a:r>
              <a:rPr lang="en-US" b="1" dirty="0"/>
              <a:t>Efficiency In Automobile</a:t>
            </a:r>
            <a:br>
              <a:rPr lang="en-US" b="1" dirty="0"/>
            </a:br>
            <a:endParaRPr lang="en-US" i="1" dirty="0"/>
          </a:p>
        </p:txBody>
      </p:sp>
      <p:pic>
        <p:nvPicPr>
          <p:cNvPr id="6" name="Picture 5" descr="Close-up of gearstick">
            <a:extLst>
              <a:ext uri="{FF2B5EF4-FFF2-40B4-BE49-F238E27FC236}">
                <a16:creationId xmlns:a16="http://schemas.microsoft.com/office/drawing/2014/main" id="{37D5BD73-97FB-11FC-3180-F3FE4C471D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0" r="7863" b="-1"/>
          <a:stretch>
            <a:fillRect/>
          </a:stretch>
        </p:blipFill>
        <p:spPr>
          <a:xfrm>
            <a:off x="6172206" y="1834039"/>
            <a:ext cx="5181594" cy="435133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96626FF-F71D-4F50-A1D1-2469CCAE88C4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AF8AB7-606B-7AAB-86DE-6FFB4A595E6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indent="-228600" algn="l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b="1" kern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D9515-FD2E-CE9C-0B5F-C2A8B6A50658}"/>
              </a:ext>
            </a:extLst>
          </p:cNvPr>
          <p:cNvSpPr txBox="1"/>
          <p:nvPr/>
        </p:nvSpPr>
        <p:spPr>
          <a:xfrm>
            <a:off x="635000" y="4001294"/>
            <a:ext cx="355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</a:t>
            </a:r>
          </a:p>
          <a:p>
            <a:r>
              <a:rPr lang="en-US" dirty="0"/>
              <a:t>Karthik Kovuri</a:t>
            </a:r>
          </a:p>
        </p:txBody>
      </p:sp>
    </p:spTree>
    <p:extLst>
      <p:ext uri="{BB962C8B-B14F-4D97-AF65-F5344CB8AC3E}">
        <p14:creationId xmlns:p14="http://schemas.microsoft.com/office/powerpoint/2010/main" val="138864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B72A2-15E7-1DD4-DE7A-2545C3B6F6D2}"/>
              </a:ext>
            </a:extLst>
          </p:cNvPr>
          <p:cNvSpPr txBox="1"/>
          <p:nvPr/>
        </p:nvSpPr>
        <p:spPr>
          <a:xfrm>
            <a:off x="833022" y="1839158"/>
            <a:ext cx="1054075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Clr>
                <a:srgbClr val="FF0000"/>
              </a:buClr>
              <a:buFont typeface=""/>
              <a:buChar char="•"/>
            </a:pPr>
            <a:r>
              <a:rPr lang="en-US" sz="2600" dirty="0"/>
              <a:t>The automobile industry has seen significant evolution over the decades</a:t>
            </a:r>
            <a:endParaRPr lang="en-US" sz="2600" dirty="0">
              <a:ea typeface="Calibri"/>
              <a:cs typeface="Calibri"/>
            </a:endParaRPr>
          </a:p>
          <a:p>
            <a:pPr marL="228600" indent="-228600">
              <a:buClr>
                <a:srgbClr val="FF0000"/>
              </a:buClr>
              <a:buFont typeface=""/>
              <a:buChar char="•"/>
            </a:pPr>
            <a:r>
              <a:rPr lang="en-US" sz="2600" dirty="0"/>
              <a:t>Innovations have transformed how vehicles are built, used, and perceived</a:t>
            </a:r>
            <a:endParaRPr lang="en-US" sz="2600" dirty="0">
              <a:ea typeface="Calibri"/>
              <a:cs typeface="Calibri"/>
            </a:endParaRPr>
          </a:p>
          <a:p>
            <a:pPr marL="228600" indent="-228600">
              <a:buClr>
                <a:srgbClr val="FF0000"/>
              </a:buClr>
              <a:buFont typeface=""/>
              <a:buChar char="•"/>
            </a:pPr>
            <a:r>
              <a:rPr lang="en-US" sz="2600" dirty="0"/>
              <a:t>Fuel efficiency has emerged as a critical focus in today’s transportation landscape</a:t>
            </a:r>
            <a:endParaRPr lang="en-US" sz="2600" dirty="0">
              <a:ea typeface="Calibri"/>
              <a:cs typeface="Calibri"/>
            </a:endParaRPr>
          </a:p>
          <a:p>
            <a:pPr marL="228600" indent="-228600">
              <a:buClr>
                <a:srgbClr val="FF0000"/>
              </a:buClr>
              <a:buFont typeface=""/>
              <a:buChar char="•"/>
            </a:pPr>
            <a:r>
              <a:rPr lang="en-US" sz="2600" dirty="0"/>
              <a:t>With the rising need for sustainability, understanding past trends becomes essential</a:t>
            </a:r>
            <a:endParaRPr lang="en-US" sz="2600" dirty="0">
              <a:ea typeface="Calibri"/>
              <a:cs typeface="Calibri"/>
            </a:endParaRPr>
          </a:p>
          <a:p>
            <a:pPr marL="228600" indent="-228600">
              <a:buClr>
                <a:srgbClr val="FF0000"/>
              </a:buClr>
              <a:buFont typeface=""/>
              <a:buChar char="•"/>
            </a:pPr>
            <a:r>
              <a:rPr lang="en-US" sz="2600" dirty="0">
                <a:ea typeface="+mn-lt"/>
                <a:cs typeface="+mn-lt"/>
              </a:rPr>
              <a:t>We are exploring vehicle design and efficiency patterns from the 1970s to 1980s</a:t>
            </a:r>
            <a:endParaRPr lang="en-US" sz="26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2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9694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2ADE4-565E-181E-D75E-0FEC3149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D5E75-F6C9-6019-AD3C-3E358D0C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Fuel Efficiency Trends: A Historical Data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AE63-52B1-9CF7-9732-ED8C28717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84228-FC90-0599-02AE-073B1D67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ED527-2ADC-694B-DA09-795D2A34404A}"/>
              </a:ext>
            </a:extLst>
          </p:cNvPr>
          <p:cNvSpPr txBox="1"/>
          <p:nvPr/>
        </p:nvSpPr>
        <p:spPr>
          <a:xfrm>
            <a:off x="822037" y="1820719"/>
            <a:ext cx="6645563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lr>
                <a:srgbClr val="FF0000"/>
              </a:buClr>
              <a:buFont typeface="Arial"/>
              <a:buChar char="•"/>
            </a:pPr>
            <a:r>
              <a:rPr lang="en-US" sz="2800" dirty="0"/>
              <a:t>This presentation explores fuel efficiency using car data from the 1970s and 1980s.</a:t>
            </a:r>
            <a:endParaRPr lang="en-US" dirty="0"/>
          </a:p>
          <a:p>
            <a:pPr marL="457200" indent="-457200">
              <a:buFont typeface="Arial"/>
              <a:buChar char="•"/>
            </a:pPr>
            <a:endParaRPr lang="en-US" sz="2800" dirty="0"/>
          </a:p>
          <a:p>
            <a:pPr marL="457200" indent="-457200">
              <a:buClr>
                <a:srgbClr val="FF0000"/>
              </a:buClr>
              <a:buFont typeface="Arial"/>
              <a:buChar char="•"/>
            </a:pPr>
            <a:r>
              <a:rPr lang="en-US" sz="2800" dirty="0"/>
              <a:t>We bridge historical insights with</a:t>
            </a:r>
            <a:r>
              <a:rPr lang="en-US" sz="28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2800" dirty="0"/>
              <a:t>modern automotive design, leveraging data analysis and machine learning to uncover key trends.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3FF3330F-46B6-1A60-DBFD-F727E20A2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81" y="1679505"/>
            <a:ext cx="4370383" cy="501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304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Research Gap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Gap: Limited use of ML on older automotive datasets.</a:t>
            </a:r>
            <a:br>
              <a:rPr lang="en-US" dirty="0"/>
            </a:br>
            <a:endParaRPr lang="en-US" dirty="0"/>
          </a:p>
          <a:p>
            <a:pPr>
              <a:buClr>
                <a:srgbClr val="FF0000"/>
              </a:buClr>
            </a:pPr>
            <a:r>
              <a:rPr lang="en-US" dirty="0"/>
              <a:t>Problem: </a:t>
            </a:r>
          </a:p>
          <a:p>
            <a:pPr lvl="1">
              <a:buClr>
                <a:srgbClr val="FF0000"/>
              </a:buClr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What features most significantly influence a car’s fuel efficiency (MPG)?</a:t>
            </a:r>
          </a:p>
          <a:p>
            <a:pPr lvl="1">
              <a:buClr>
                <a:srgbClr val="FF0000"/>
              </a:buClr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Can we develop accurate machine learning models to predict MPG from historical car specs?</a:t>
            </a:r>
          </a:p>
          <a:p>
            <a:pPr lvl="1">
              <a:buClr>
                <a:srgbClr val="FF0000"/>
              </a:buClr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How applicable are insights from 1970s–80s vehicles to today’s efficiency challenges?</a:t>
            </a:r>
            <a:br>
              <a:rPr lang="en-US" dirty="0"/>
            </a:b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807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54ED-43E1-1D24-49A6-FE532ACE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CE01-077D-D443-02F9-63224B9D7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0000"/>
              </a:buClr>
            </a:pPr>
            <a:r>
              <a:rPr lang="en-US" dirty="0"/>
              <a:t>Dataset: Auto (397 entries, 9 variables)</a:t>
            </a:r>
          </a:p>
          <a:p>
            <a:pPr>
              <a:buClr>
                <a:srgbClr val="FF0000"/>
              </a:buClr>
            </a:pPr>
            <a:r>
              <a:rPr lang="en-US" dirty="0">
                <a:ea typeface="Calibri" panose="020F0502020204030204"/>
                <a:cs typeface="Calibri" panose="020F0502020204030204"/>
              </a:rPr>
              <a:t>Dataset Source: </a:t>
            </a:r>
            <a:r>
              <a:rPr lang="en-US" dirty="0"/>
              <a:t>This dataset was taken from the </a:t>
            </a:r>
            <a:r>
              <a:rPr lang="en-US" dirty="0" err="1"/>
              <a:t>StatLib</a:t>
            </a:r>
            <a:r>
              <a:rPr lang="en-US" dirty="0"/>
              <a:t> library which is maintained at Carnegie Mellon University. The dataset was used in the 1983 American Statistical Association Exposition.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0000"/>
              </a:buClr>
            </a:pPr>
            <a:r>
              <a:rPr lang="en-US" dirty="0"/>
              <a:t>Target Variable: mpg (Miles Per Gallon – fuel efficiency)</a:t>
            </a:r>
          </a:p>
          <a:p>
            <a:pPr>
              <a:buClr>
                <a:srgbClr val="FF0000"/>
              </a:buClr>
            </a:pPr>
            <a:r>
              <a:rPr lang="en-US" dirty="0"/>
              <a:t>Predictors: Cylinders, Displacement, Horsepower, Weight, Acceleration, Model Year, Origin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0A0A5-19FA-8E4B-E75B-9F824D4C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9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420A-EF2F-DB6B-097F-FA686091C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Summary Statistics</a:t>
            </a:r>
            <a:endParaRPr lang="en-US" dirty="0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A1A6833-93F3-02A1-5673-56D7EACC3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208"/>
          <a:stretch/>
        </p:blipFill>
        <p:spPr>
          <a:xfrm>
            <a:off x="838200" y="2490952"/>
            <a:ext cx="10515600" cy="2810887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1F940-0310-DCE3-BBD6-545F35FA3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11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512B1-5594-93E8-D7ED-7A60E7723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C59D-1A93-3169-2BC6-9CBEC4AB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 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A93C3B47-D82F-7F50-2151-24D7B32B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82FE588-3B22-C023-FA4C-A8B55F8C1927}"/>
              </a:ext>
            </a:extLst>
          </p:cNvPr>
          <p:cNvCxnSpPr>
            <a:stCxn id="8" idx="3"/>
            <a:endCxn id="14" idx="1"/>
          </p:cNvCxnSpPr>
          <p:nvPr/>
        </p:nvCxnSpPr>
        <p:spPr>
          <a:xfrm>
            <a:off x="3021044" y="2829033"/>
            <a:ext cx="1869987" cy="0"/>
          </a:xfrm>
          <a:prstGeom prst="straightConnector1">
            <a:avLst/>
          </a:prstGeom>
          <a:ln w="57150">
            <a:solidFill>
              <a:srgbClr val="233D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1909B68-05C6-C1C7-1C61-C002D252497E}"/>
              </a:ext>
            </a:extLst>
          </p:cNvPr>
          <p:cNvCxnSpPr>
            <a:cxnSpLocks/>
            <a:stCxn id="10" idx="1"/>
            <a:endCxn id="16" idx="3"/>
          </p:cNvCxnSpPr>
          <p:nvPr/>
        </p:nvCxnSpPr>
        <p:spPr>
          <a:xfrm flipH="1">
            <a:off x="4353867" y="5355699"/>
            <a:ext cx="572629" cy="0"/>
          </a:xfrm>
          <a:prstGeom prst="straightConnector1">
            <a:avLst/>
          </a:prstGeom>
          <a:ln w="57150">
            <a:solidFill>
              <a:srgbClr val="233D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0150DD23-12D4-96C5-3BBF-4C3F01C65C70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 rot="5400000">
            <a:off x="8785295" y="3222978"/>
            <a:ext cx="775164" cy="2065457"/>
          </a:xfrm>
          <a:prstGeom prst="bentConnector3">
            <a:avLst>
              <a:gd name="adj1" fmla="val 50000"/>
            </a:avLst>
          </a:prstGeom>
          <a:ln w="76200">
            <a:solidFill>
              <a:srgbClr val="233D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50C52C-9608-A89E-6AB7-28EA3BCAD6E0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>
            <a:off x="7187422" y="2829033"/>
            <a:ext cx="1869987" cy="0"/>
          </a:xfrm>
          <a:prstGeom prst="straightConnector1">
            <a:avLst/>
          </a:prstGeom>
          <a:ln w="57150">
            <a:solidFill>
              <a:srgbClr val="233D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78B5FD-70B2-5479-52AE-FCC1796E7AC6}"/>
              </a:ext>
            </a:extLst>
          </p:cNvPr>
          <p:cNvSpPr/>
          <p:nvPr/>
        </p:nvSpPr>
        <p:spPr>
          <a:xfrm>
            <a:off x="724653" y="1789942"/>
            <a:ext cx="2296391" cy="2078182"/>
          </a:xfrm>
          <a:prstGeom prst="round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2400" dirty="0">
              <a:solidFill>
                <a:schemeClr val="tx1"/>
              </a:solidFill>
            </a:endParaRPr>
          </a:p>
          <a:p>
            <a:pPr algn="ctr"/>
            <a:endParaRPr lang="en-IN" sz="2400" dirty="0">
              <a:solidFill>
                <a:schemeClr val="tx1"/>
              </a:solidFill>
            </a:endParaRP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Data Collection</a:t>
            </a:r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63FFBD20-215D-ABCF-D8C7-342265B05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265" y="1856652"/>
            <a:ext cx="719455" cy="71945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902A87-7BB7-3F77-7AB8-F45CA4D9D8DF}"/>
              </a:ext>
            </a:extLst>
          </p:cNvPr>
          <p:cNvSpPr/>
          <p:nvPr/>
        </p:nvSpPr>
        <p:spPr>
          <a:xfrm>
            <a:off x="4926496" y="4643288"/>
            <a:ext cx="6427304" cy="1424822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63040" tIns="0" rIns="0" bIns="0" rtlCol="0" anchor="ctr"/>
          <a:lstStyle/>
          <a:p>
            <a:r>
              <a:rPr lang="en-IN" sz="2400" dirty="0">
                <a:solidFill>
                  <a:schemeClr val="tx1"/>
                </a:solidFill>
              </a:rPr>
              <a:t>Model Training &amp; Testing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Linear regression, Random Forest, XG Boost, Gradient Boosting, SVR</a:t>
            </a:r>
          </a:p>
        </p:txBody>
      </p:sp>
      <p:pic>
        <p:nvPicPr>
          <p:cNvPr id="11" name="Graphic 10" descr="Scientist male with solid fill">
            <a:extLst>
              <a:ext uri="{FF2B5EF4-FFF2-40B4-BE49-F238E27FC236}">
                <a16:creationId xmlns:a16="http://schemas.microsoft.com/office/drawing/2014/main" id="{E9585AF1-8D83-2846-137F-A68559DC0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0912" y="4994511"/>
            <a:ext cx="722376" cy="72237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E160A9-E690-C636-D062-90B02C427A3C}"/>
              </a:ext>
            </a:extLst>
          </p:cNvPr>
          <p:cNvSpPr/>
          <p:nvPr/>
        </p:nvSpPr>
        <p:spPr>
          <a:xfrm>
            <a:off x="9057409" y="1789942"/>
            <a:ext cx="2296391" cy="2078182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41A8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Exploratory data analysis(EDA)</a:t>
            </a:r>
          </a:p>
        </p:txBody>
      </p:sp>
      <p:pic>
        <p:nvPicPr>
          <p:cNvPr id="13" name="Graphic 12" descr="Bar graph with upward trend with solid fill">
            <a:extLst>
              <a:ext uri="{FF2B5EF4-FFF2-40B4-BE49-F238E27FC236}">
                <a16:creationId xmlns:a16="http://schemas.microsoft.com/office/drawing/2014/main" id="{E34D6CE6-7B50-E62A-29DC-99D759C5AD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90428" y="1853731"/>
            <a:ext cx="722376" cy="72237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A34C3E-7E62-D33C-BC9B-88DBACF061A1}"/>
              </a:ext>
            </a:extLst>
          </p:cNvPr>
          <p:cNvSpPr/>
          <p:nvPr/>
        </p:nvSpPr>
        <p:spPr>
          <a:xfrm>
            <a:off x="4891031" y="1789942"/>
            <a:ext cx="2296391" cy="2078182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EC8F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2400" dirty="0">
              <a:solidFill>
                <a:schemeClr val="tx1"/>
              </a:solidFill>
            </a:endParaRPr>
          </a:p>
          <a:p>
            <a:pPr algn="ctr"/>
            <a:endParaRPr lang="en-IN" sz="2400" dirty="0">
              <a:solidFill>
                <a:schemeClr val="tx1"/>
              </a:solidFill>
            </a:endParaRPr>
          </a:p>
          <a:p>
            <a:pPr algn="ctr"/>
            <a:endParaRPr lang="en-IN" sz="2400" dirty="0">
              <a:solidFill>
                <a:schemeClr val="tx1"/>
              </a:solidFill>
            </a:endParaRP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Data Preprocessing</a:t>
            </a:r>
          </a:p>
          <a:p>
            <a:pPr algn="ctr"/>
            <a:br>
              <a:rPr lang="en-IN" sz="1600" dirty="0">
                <a:solidFill>
                  <a:schemeClr val="tx1"/>
                </a:solidFill>
              </a:rPr>
            </a:b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15" name="Graphic 14" descr="Mop and bucket with solid fill">
            <a:extLst>
              <a:ext uri="{FF2B5EF4-FFF2-40B4-BE49-F238E27FC236}">
                <a16:creationId xmlns:a16="http://schemas.microsoft.com/office/drawing/2014/main" id="{D4CE2527-BFC0-79A4-FFFF-46451EE193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78038" y="1853731"/>
            <a:ext cx="722376" cy="722376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F02B76-14EF-0C6A-97BA-FDC73B548760}"/>
              </a:ext>
            </a:extLst>
          </p:cNvPr>
          <p:cNvSpPr/>
          <p:nvPr/>
        </p:nvSpPr>
        <p:spPr>
          <a:xfrm>
            <a:off x="724653" y="4643288"/>
            <a:ext cx="3629214" cy="1424822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tIns="0" rIns="0" bIns="0"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Model Evaluation and Comparison</a:t>
            </a:r>
            <a:br>
              <a:rPr lang="en-IN" sz="2400" dirty="0">
                <a:solidFill>
                  <a:schemeClr val="tx1"/>
                </a:solidFill>
              </a:rPr>
            </a:b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17" name="Graphic 16" descr="Upward trend with solid fill">
            <a:extLst>
              <a:ext uri="{FF2B5EF4-FFF2-40B4-BE49-F238E27FC236}">
                <a16:creationId xmlns:a16="http://schemas.microsoft.com/office/drawing/2014/main" id="{3EF4267E-4F53-C36C-C8F5-095F8FE14C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9291" y="4994511"/>
            <a:ext cx="722376" cy="72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05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Correlation Matrix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CE18CB3-3CE2-2592-C8A7-43808718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97" r="111"/>
          <a:stretch/>
        </p:blipFill>
        <p:spPr>
          <a:xfrm>
            <a:off x="1479903" y="1709353"/>
            <a:ext cx="8568029" cy="497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86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06006" cy="847699"/>
          </a:xfrm>
        </p:spPr>
        <p:txBody>
          <a:bodyPr>
            <a:normAutofit fontScale="90000"/>
          </a:bodyPr>
          <a:lstStyle/>
          <a:p>
            <a:pPr algn="ctr">
              <a:spcBef>
                <a:spcPts val="1000"/>
              </a:spcBef>
            </a:pPr>
            <a:endParaRPr lang="en-US" sz="24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>
              <a:spcBef>
                <a:spcPts val="1000"/>
              </a:spcBef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 </a:t>
            </a:r>
            <a:br>
              <a:rPr lang="en-US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</a:br>
            <a:r>
              <a:rPr lang="en-US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Pair Plot of Key Features</a:t>
            </a:r>
          </a:p>
          <a:p>
            <a:endParaRPr lang="en-US" dirty="0">
              <a:latin typeface="Calibri Light"/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5A76B01-4549-14AD-D58C-F62F76036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082" y="1874704"/>
            <a:ext cx="6832984" cy="427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00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3F73-BDF0-4D48-405D-123171950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sz="2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MPG vs Horsepower</a:t>
            </a:r>
            <a:endParaRPr lang="en-US"/>
          </a:p>
          <a:p>
            <a:endParaRPr lang="en-US">
              <a:solidFill>
                <a:srgbClr val="00000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56E08E-AD87-F0AE-C397-3DF71F73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4425733B-BB62-C4D1-CFEE-83E781E98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708" y="1712124"/>
            <a:ext cx="5984825" cy="498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11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A3AE-3626-B1B3-20EB-5B16BCC8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791C8E8D-BEB0-A330-75A2-010909792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191" y="1725039"/>
            <a:ext cx="5532791" cy="4044695"/>
          </a:xfrm>
          <a:prstGeom prst="rect">
            <a:avLst/>
          </a:prstGeom>
          <a:noFill/>
        </p:spPr>
      </p:pic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697E9CAA-D886-69BA-A427-89A199A4D614}"/>
              </a:ext>
            </a:extLst>
          </p:cNvPr>
          <p:cNvSpPr/>
          <p:nvPr/>
        </p:nvSpPr>
        <p:spPr>
          <a:xfrm>
            <a:off x="7029022" y="665917"/>
            <a:ext cx="4471262" cy="680720"/>
          </a:xfrm>
          <a:prstGeom prst="round2SameRect">
            <a:avLst/>
          </a:prstGeom>
          <a:solidFill>
            <a:srgbClr val="F5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aseline="0">
                <a:solidFill>
                  <a:srgbClr val="FFFFFF"/>
                </a:solidFill>
                <a:latin typeface="Calibri"/>
              </a:rPr>
              <a:t>MPG by Number of Cylinders</a:t>
            </a:r>
            <a:r>
              <a:rPr lang="en-US" sz="2400">
                <a:latin typeface="Calibri"/>
                <a:ea typeface="Calibri"/>
                <a:cs typeface="Calibri"/>
              </a:rPr>
              <a:t>​</a:t>
            </a:r>
            <a:endParaRPr lang="en-IN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1D8B9DC-93B1-9C70-3B11-0A2CA7D6745E}"/>
              </a:ext>
            </a:extLst>
          </p:cNvPr>
          <p:cNvSpPr/>
          <p:nvPr/>
        </p:nvSpPr>
        <p:spPr>
          <a:xfrm>
            <a:off x="799455" y="665917"/>
            <a:ext cx="4716651" cy="680720"/>
          </a:xfrm>
          <a:prstGeom prst="round2SameRect">
            <a:avLst/>
          </a:prstGeom>
          <a:solidFill>
            <a:srgbClr val="F5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ts val="1275"/>
              </a:lnSpc>
            </a:pPr>
            <a:endParaRPr lang="en-US" sz="2400" dirty="0">
              <a:solidFill>
                <a:srgbClr val="FFFFFF"/>
              </a:solidFill>
              <a:latin typeface="Calibri"/>
              <a:ea typeface="Segoe UI"/>
              <a:cs typeface="Segoe UI"/>
            </a:endParaRPr>
          </a:p>
          <a:p>
            <a:pPr algn="ctr">
              <a:lnSpc>
                <a:spcPts val="1275"/>
              </a:lnSpc>
            </a:pPr>
            <a:endParaRPr lang="en-US" sz="2400" dirty="0">
              <a:solidFill>
                <a:srgbClr val="FFFFFF"/>
              </a:solidFill>
              <a:latin typeface="Calibri"/>
              <a:ea typeface="Segoe UI"/>
              <a:cs typeface="Segoe UI"/>
            </a:endParaRPr>
          </a:p>
          <a:p>
            <a:pPr algn="ctr">
              <a:lnSpc>
                <a:spcPts val="1275"/>
              </a:lnSpc>
            </a:pPr>
            <a:r>
              <a:rPr lang="en-US" sz="2400" baseline="0" dirty="0">
                <a:solidFill>
                  <a:srgbClr val="FFFFFF"/>
                </a:solidFill>
                <a:latin typeface="Calibri"/>
                <a:ea typeface="Segoe UI"/>
                <a:cs typeface="Segoe UI"/>
              </a:rPr>
              <a:t>MPG Distribution</a:t>
            </a:r>
            <a:r>
              <a:rPr lang="en-US" sz="2400" dirty="0">
                <a:latin typeface="Calibri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275"/>
              </a:lnSpc>
            </a:pPr>
            <a:r>
              <a:rPr lang="en-US" sz="2400" dirty="0">
                <a:latin typeface="Calibri"/>
                <a:ea typeface="Segoe UI"/>
                <a:cs typeface="Segoe UI"/>
              </a:rPr>
              <a:t>​</a:t>
            </a:r>
            <a:endParaRPr lang="en-IN" dirty="0"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EFE0C4CF-CFDC-26C7-4917-5398C51F3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1740609"/>
            <a:ext cx="6272619" cy="403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735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D87EE-1CB7-DFBE-CCB6-0AF630FC5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6FB3736C-DEB2-54C0-96F2-6703944DB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0" y="1746059"/>
            <a:ext cx="6091806" cy="37347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96E906-1149-24CB-63C7-41E2E8CF9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856" y="1746059"/>
            <a:ext cx="5922632" cy="3894333"/>
          </a:xfrm>
          <a:prstGeom prst="rect">
            <a:avLst/>
          </a:prstGeom>
        </p:spPr>
      </p:pic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ECAA31D4-1068-9019-5833-B22DE1E6CEEE}"/>
              </a:ext>
            </a:extLst>
          </p:cNvPr>
          <p:cNvSpPr/>
          <p:nvPr/>
        </p:nvSpPr>
        <p:spPr>
          <a:xfrm>
            <a:off x="7029022" y="665917"/>
            <a:ext cx="4471262" cy="680720"/>
          </a:xfrm>
          <a:prstGeom prst="round2SameRect">
            <a:avLst/>
          </a:prstGeom>
          <a:solidFill>
            <a:srgbClr val="F5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aseline="0" dirty="0">
                <a:solidFill>
                  <a:srgbClr val="FFFFFF"/>
                </a:solidFill>
                <a:latin typeface="Calibri"/>
              </a:rPr>
              <a:t>Violin Plots of Numerical Features</a:t>
            </a:r>
            <a:r>
              <a:rPr lang="en-US" sz="2400" dirty="0">
                <a:latin typeface="Calibri"/>
                <a:ea typeface="Calibri"/>
                <a:cs typeface="Calibri"/>
              </a:rPr>
              <a:t>​</a:t>
            </a:r>
            <a:endParaRPr lang="en-IN" sz="2400" dirty="0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220D7D73-C2F9-3021-7305-370064937B2A}"/>
              </a:ext>
            </a:extLst>
          </p:cNvPr>
          <p:cNvSpPr/>
          <p:nvPr/>
        </p:nvSpPr>
        <p:spPr>
          <a:xfrm>
            <a:off x="799455" y="665917"/>
            <a:ext cx="4716651" cy="680720"/>
          </a:xfrm>
          <a:prstGeom prst="round2SameRect">
            <a:avLst/>
          </a:prstGeom>
          <a:solidFill>
            <a:srgbClr val="F5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ea typeface="Calibri"/>
                <a:cs typeface="Calibri"/>
              </a:rPr>
              <a:t>Power-to-Weight Ratio Distribution</a:t>
            </a:r>
            <a:endParaRPr lang="en-IN" sz="240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0702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CC3C70-04CE-161F-204A-A7D260C87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047948"/>
              </p:ext>
            </p:extLst>
          </p:nvPr>
        </p:nvGraphicFramePr>
        <p:xfrm>
          <a:off x="838197" y="1717842"/>
          <a:ext cx="10515600" cy="371543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75475">
                  <a:extLst>
                    <a:ext uri="{9D8B030D-6E8A-4147-A177-3AD203B41FA5}">
                      <a16:colId xmlns:a16="http://schemas.microsoft.com/office/drawing/2014/main" val="3736871399"/>
                    </a:ext>
                  </a:extLst>
                </a:gridCol>
                <a:gridCol w="2613375">
                  <a:extLst>
                    <a:ext uri="{9D8B030D-6E8A-4147-A177-3AD203B41FA5}">
                      <a16:colId xmlns:a16="http://schemas.microsoft.com/office/drawing/2014/main" val="2529966931"/>
                    </a:ext>
                  </a:extLst>
                </a:gridCol>
                <a:gridCol w="2613375">
                  <a:extLst>
                    <a:ext uri="{9D8B030D-6E8A-4147-A177-3AD203B41FA5}">
                      <a16:colId xmlns:a16="http://schemas.microsoft.com/office/drawing/2014/main" val="1149232316"/>
                    </a:ext>
                  </a:extLst>
                </a:gridCol>
                <a:gridCol w="2613375">
                  <a:extLst>
                    <a:ext uri="{9D8B030D-6E8A-4147-A177-3AD203B41FA5}">
                      <a16:colId xmlns:a16="http://schemas.microsoft.com/office/drawing/2014/main" val="2888871307"/>
                    </a:ext>
                  </a:extLst>
                </a:gridCol>
              </a:tblGrid>
              <a:tr h="2675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chemeClr val="bg1"/>
                          </a:solidFill>
                          <a:latin typeface="+mn-lt"/>
                        </a:rPr>
                        <a:t>Feature</a:t>
                      </a:r>
                      <a:endParaRPr lang="en-US" sz="6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F500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chemeClr val="bg1"/>
                          </a:solidFill>
                          <a:latin typeface="+mn-lt"/>
                        </a:rPr>
                        <a:t>Coefficient</a:t>
                      </a:r>
                      <a:endParaRPr lang="en-US" sz="6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F500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P-Value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F5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Significance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F5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46112"/>
                  </a:ext>
                </a:extLst>
              </a:tr>
              <a:tr h="448045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Cylinder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-0.89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0.14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63956"/>
                  </a:ext>
                </a:extLst>
              </a:tr>
              <a:tr h="448045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Displacement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1.83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*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952161"/>
                  </a:ext>
                </a:extLst>
              </a:tr>
              <a:tr h="448045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Horsepower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-0.46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0.40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774194"/>
                  </a:ext>
                </a:extLst>
              </a:tr>
              <a:tr h="448045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-5.66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&lt;0.01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***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26323"/>
                  </a:ext>
                </a:extLst>
              </a:tr>
              <a:tr h="448045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Acceleration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0.13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0.63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229029"/>
                  </a:ext>
                </a:extLst>
              </a:tr>
              <a:tr h="448045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Year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2.74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&lt;0.01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***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399029"/>
                  </a:ext>
                </a:extLst>
              </a:tr>
              <a:tr h="448045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Origin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0.77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&lt;0.01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**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85629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E5D864-8602-71E6-7CA6-7BBF0A46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Coefficients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A22EBF-6F0C-22C9-8806-A3640BF4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85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A8EA13A-4F32-93AF-D442-125229E42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Model Performance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F6786-6032-1CCE-792B-A0723F51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0C945B-A224-E846-E994-A1846D15F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063180"/>
              </p:ext>
            </p:extLst>
          </p:nvPr>
        </p:nvGraphicFramePr>
        <p:xfrm>
          <a:off x="838200" y="1716114"/>
          <a:ext cx="10201410" cy="44174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550200">
                  <a:extLst>
                    <a:ext uri="{9D8B030D-6E8A-4147-A177-3AD203B41FA5}">
                      <a16:colId xmlns:a16="http://schemas.microsoft.com/office/drawing/2014/main" val="3736871399"/>
                    </a:ext>
                  </a:extLst>
                </a:gridCol>
                <a:gridCol w="1530242">
                  <a:extLst>
                    <a:ext uri="{9D8B030D-6E8A-4147-A177-3AD203B41FA5}">
                      <a16:colId xmlns:a16="http://schemas.microsoft.com/office/drawing/2014/main" val="2529966931"/>
                    </a:ext>
                  </a:extLst>
                </a:gridCol>
                <a:gridCol w="1530242">
                  <a:extLst>
                    <a:ext uri="{9D8B030D-6E8A-4147-A177-3AD203B41FA5}">
                      <a16:colId xmlns:a16="http://schemas.microsoft.com/office/drawing/2014/main" val="614438132"/>
                    </a:ext>
                  </a:extLst>
                </a:gridCol>
                <a:gridCol w="1530242">
                  <a:extLst>
                    <a:ext uri="{9D8B030D-6E8A-4147-A177-3AD203B41FA5}">
                      <a16:colId xmlns:a16="http://schemas.microsoft.com/office/drawing/2014/main" val="2939267291"/>
                    </a:ext>
                  </a:extLst>
                </a:gridCol>
                <a:gridCol w="1530242">
                  <a:extLst>
                    <a:ext uri="{9D8B030D-6E8A-4147-A177-3AD203B41FA5}">
                      <a16:colId xmlns:a16="http://schemas.microsoft.com/office/drawing/2014/main" val="911970355"/>
                    </a:ext>
                  </a:extLst>
                </a:gridCol>
                <a:gridCol w="1530242">
                  <a:extLst>
                    <a:ext uri="{9D8B030D-6E8A-4147-A177-3AD203B41FA5}">
                      <a16:colId xmlns:a16="http://schemas.microsoft.com/office/drawing/2014/main" val="326955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600" b="1" cap="none" spc="0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132900" marR="0" marT="189857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F5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b="1" cap="none" spc="0" dirty="0">
                          <a:solidFill>
                            <a:schemeClr val="bg1"/>
                          </a:solidFill>
                        </a:rPr>
                        <a:t>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b="1" cap="none" spc="0" dirty="0">
                          <a:solidFill>
                            <a:schemeClr val="bg1"/>
                          </a:solidFill>
                        </a:rPr>
                        <a:t>R²</a:t>
                      </a:r>
                    </a:p>
                  </a:txBody>
                  <a:tcPr marL="132900" marR="0" marT="189857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F5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cap="none" spc="0" dirty="0">
                          <a:solidFill>
                            <a:schemeClr val="bg1"/>
                          </a:solidFill>
                        </a:rPr>
                        <a:t>Test RMSE</a:t>
                      </a:r>
                    </a:p>
                  </a:txBody>
                  <a:tcPr marL="132900" marR="0" marT="189857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F5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b="1" cap="none" spc="0" dirty="0">
                          <a:solidFill>
                            <a:schemeClr val="bg1"/>
                          </a:solidFill>
                        </a:rPr>
                        <a:t>CV R²</a:t>
                      </a:r>
                    </a:p>
                  </a:txBody>
                  <a:tcPr marL="132900" marR="0" marT="189857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F5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cap="none" spc="0" dirty="0">
                          <a:solidFill>
                            <a:schemeClr val="bg1"/>
                          </a:solidFill>
                        </a:rPr>
                        <a:t>CV RMSE</a:t>
                      </a:r>
                    </a:p>
                  </a:txBody>
                  <a:tcPr marL="132900" marR="0" marT="189857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F5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Test MAE</a:t>
                      </a:r>
                    </a:p>
                  </a:txBody>
                  <a:tcPr marL="132900" marR="0" marT="189857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F5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46112"/>
                  </a:ext>
                </a:extLst>
              </a:tr>
              <a:tr h="601131">
                <a:tc>
                  <a:txBody>
                    <a:bodyPr/>
                    <a:lstStyle/>
                    <a:p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Linear Regression</a:t>
                      </a: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0.786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3.62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0.81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3.31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2.78</a:t>
                      </a: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63956"/>
                  </a:ext>
                </a:extLst>
              </a:tr>
              <a:tr h="601131">
                <a:tc>
                  <a:txBody>
                    <a:bodyPr/>
                    <a:lstStyle/>
                    <a:p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0.817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3.34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0.87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2.68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2.02</a:t>
                      </a: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952161"/>
                  </a:ext>
                </a:extLst>
              </a:tr>
              <a:tr h="601131">
                <a:tc>
                  <a:txBody>
                    <a:bodyPr/>
                    <a:lstStyle/>
                    <a:p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Gradient Boosting</a:t>
                      </a: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0.812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3.38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0.88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2.62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2.29</a:t>
                      </a: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774194"/>
                  </a:ext>
                </a:extLst>
              </a:tr>
              <a:tr h="939109">
                <a:tc>
                  <a:txBody>
                    <a:bodyPr/>
                    <a:lstStyle/>
                    <a:p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SVR (Support Vector Regression)</a:t>
                      </a: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0.814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3.37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0.82</a:t>
                      </a:r>
                      <a:endParaRPr lang="en-IN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3.17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2.29</a:t>
                      </a: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26323"/>
                  </a:ext>
                </a:extLst>
              </a:tr>
              <a:tr h="601131">
                <a:tc>
                  <a:txBody>
                    <a:bodyPr/>
                    <a:lstStyle/>
                    <a:p>
                      <a:r>
                        <a:rPr lang="en-IN" sz="2200" cap="none" spc="0" dirty="0" err="1">
                          <a:solidFill>
                            <a:schemeClr val="tx1"/>
                          </a:solidFill>
                        </a:rPr>
                        <a:t>Xg</a:t>
                      </a:r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 Boost </a:t>
                      </a: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0.809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3.417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0.86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2.80</a:t>
                      </a:r>
                      <a:endParaRPr lang="en-IN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L="132900" marR="0" marT="94929" marB="9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229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96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BE71C-85B9-B260-F3DA-A41CD4CA8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24F2-5D7B-1A4A-AE3D-09B2399E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Feature Importance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DEA06-1A70-F8D2-32FD-9F0AC18A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2F2E26-0281-B8E2-46C6-D084D123E9B0}"/>
              </a:ext>
            </a:extLst>
          </p:cNvPr>
          <p:cNvSpPr/>
          <p:nvPr/>
        </p:nvSpPr>
        <p:spPr>
          <a:xfrm>
            <a:off x="942372" y="1782502"/>
            <a:ext cx="2830975" cy="42479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A901A8F-E0CE-2314-B1EE-2637766F71B5}"/>
              </a:ext>
            </a:extLst>
          </p:cNvPr>
          <p:cNvSpPr/>
          <p:nvPr/>
        </p:nvSpPr>
        <p:spPr>
          <a:xfrm>
            <a:off x="694481" y="2025570"/>
            <a:ext cx="3537512" cy="1134319"/>
          </a:xfrm>
          <a:custGeom>
            <a:avLst/>
            <a:gdLst>
              <a:gd name="connsiteX0" fmla="*/ 0 w 3537512"/>
              <a:gd name="connsiteY0" fmla="*/ 0 h 1134319"/>
              <a:gd name="connsiteX1" fmla="*/ 2974693 w 3537512"/>
              <a:gd name="connsiteY1" fmla="*/ 0 h 1134319"/>
              <a:gd name="connsiteX2" fmla="*/ 3537512 w 3537512"/>
              <a:gd name="connsiteY2" fmla="*/ 562819 h 1134319"/>
              <a:gd name="connsiteX3" fmla="*/ 2974693 w 3537512"/>
              <a:gd name="connsiteY3" fmla="*/ 1125638 h 1134319"/>
              <a:gd name="connsiteX4" fmla="*/ 2974693 w 3537512"/>
              <a:gd name="connsiteY4" fmla="*/ 1134319 h 1134319"/>
              <a:gd name="connsiteX5" fmla="*/ 0 w 3537512"/>
              <a:gd name="connsiteY5" fmla="*/ 1134319 h 1134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7512" h="1134319">
                <a:moveTo>
                  <a:pt x="0" y="0"/>
                </a:moveTo>
                <a:lnTo>
                  <a:pt x="2974693" y="0"/>
                </a:lnTo>
                <a:cubicBezTo>
                  <a:pt x="3285529" y="0"/>
                  <a:pt x="3537512" y="251983"/>
                  <a:pt x="3537512" y="562819"/>
                </a:cubicBezTo>
                <a:cubicBezTo>
                  <a:pt x="3537512" y="873655"/>
                  <a:pt x="3285529" y="1125638"/>
                  <a:pt x="2974693" y="1125638"/>
                </a:cubicBezTo>
                <a:lnTo>
                  <a:pt x="2974693" y="1134319"/>
                </a:lnTo>
                <a:lnTo>
                  <a:pt x="0" y="1134319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C898C02F-5413-A60D-889C-CBCA8BF2868E}"/>
              </a:ext>
            </a:extLst>
          </p:cNvPr>
          <p:cNvSpPr/>
          <p:nvPr/>
        </p:nvSpPr>
        <p:spPr>
          <a:xfrm flipH="1" flipV="1">
            <a:off x="694481" y="3159889"/>
            <a:ext cx="243068" cy="243068"/>
          </a:xfrm>
          <a:prstGeom prst="rt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29D579-A715-6974-787F-49D3AD4888A9}"/>
              </a:ext>
            </a:extLst>
          </p:cNvPr>
          <p:cNvSpPr/>
          <p:nvPr/>
        </p:nvSpPr>
        <p:spPr>
          <a:xfrm>
            <a:off x="8461335" y="1782502"/>
            <a:ext cx="2830975" cy="42479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5297922-570F-42C4-4D01-FEDCA44EC6E5}"/>
              </a:ext>
            </a:extLst>
          </p:cNvPr>
          <p:cNvSpPr/>
          <p:nvPr/>
        </p:nvSpPr>
        <p:spPr>
          <a:xfrm>
            <a:off x="8213444" y="2025570"/>
            <a:ext cx="3537512" cy="1134319"/>
          </a:xfrm>
          <a:custGeom>
            <a:avLst/>
            <a:gdLst>
              <a:gd name="connsiteX0" fmla="*/ 0 w 3537512"/>
              <a:gd name="connsiteY0" fmla="*/ 0 h 1134319"/>
              <a:gd name="connsiteX1" fmla="*/ 2974693 w 3537512"/>
              <a:gd name="connsiteY1" fmla="*/ 0 h 1134319"/>
              <a:gd name="connsiteX2" fmla="*/ 3537512 w 3537512"/>
              <a:gd name="connsiteY2" fmla="*/ 562819 h 1134319"/>
              <a:gd name="connsiteX3" fmla="*/ 2974693 w 3537512"/>
              <a:gd name="connsiteY3" fmla="*/ 1125638 h 1134319"/>
              <a:gd name="connsiteX4" fmla="*/ 2974693 w 3537512"/>
              <a:gd name="connsiteY4" fmla="*/ 1134319 h 1134319"/>
              <a:gd name="connsiteX5" fmla="*/ 0 w 3537512"/>
              <a:gd name="connsiteY5" fmla="*/ 1134319 h 1134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7512" h="1134319">
                <a:moveTo>
                  <a:pt x="0" y="0"/>
                </a:moveTo>
                <a:lnTo>
                  <a:pt x="2974693" y="0"/>
                </a:lnTo>
                <a:cubicBezTo>
                  <a:pt x="3285529" y="0"/>
                  <a:pt x="3537512" y="251983"/>
                  <a:pt x="3537512" y="562819"/>
                </a:cubicBezTo>
                <a:cubicBezTo>
                  <a:pt x="3537512" y="873655"/>
                  <a:pt x="3285529" y="1125638"/>
                  <a:pt x="2974693" y="1125638"/>
                </a:cubicBezTo>
                <a:lnTo>
                  <a:pt x="2974693" y="1134319"/>
                </a:lnTo>
                <a:lnTo>
                  <a:pt x="0" y="1134319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4256ACDE-E049-98EA-672F-A5A5A4F6932C}"/>
              </a:ext>
            </a:extLst>
          </p:cNvPr>
          <p:cNvSpPr/>
          <p:nvPr/>
        </p:nvSpPr>
        <p:spPr>
          <a:xfrm flipH="1" flipV="1">
            <a:off x="8213444" y="3159889"/>
            <a:ext cx="243068" cy="243068"/>
          </a:xfrm>
          <a:prstGeom prst="rt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E3C408-58E8-62EF-B0D9-175FBEBA9E20}"/>
              </a:ext>
            </a:extLst>
          </p:cNvPr>
          <p:cNvSpPr/>
          <p:nvPr/>
        </p:nvSpPr>
        <p:spPr>
          <a:xfrm>
            <a:off x="4701853" y="1782502"/>
            <a:ext cx="2830975" cy="42479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20D83F4-F1F2-DD84-6094-2F526B8FF554}"/>
              </a:ext>
            </a:extLst>
          </p:cNvPr>
          <p:cNvSpPr/>
          <p:nvPr/>
        </p:nvSpPr>
        <p:spPr>
          <a:xfrm>
            <a:off x="4453962" y="2025570"/>
            <a:ext cx="3537512" cy="1134319"/>
          </a:xfrm>
          <a:custGeom>
            <a:avLst/>
            <a:gdLst>
              <a:gd name="connsiteX0" fmla="*/ 0 w 3537512"/>
              <a:gd name="connsiteY0" fmla="*/ 0 h 1134319"/>
              <a:gd name="connsiteX1" fmla="*/ 2974693 w 3537512"/>
              <a:gd name="connsiteY1" fmla="*/ 0 h 1134319"/>
              <a:gd name="connsiteX2" fmla="*/ 3537512 w 3537512"/>
              <a:gd name="connsiteY2" fmla="*/ 562819 h 1134319"/>
              <a:gd name="connsiteX3" fmla="*/ 2974693 w 3537512"/>
              <a:gd name="connsiteY3" fmla="*/ 1125638 h 1134319"/>
              <a:gd name="connsiteX4" fmla="*/ 2974693 w 3537512"/>
              <a:gd name="connsiteY4" fmla="*/ 1134319 h 1134319"/>
              <a:gd name="connsiteX5" fmla="*/ 0 w 3537512"/>
              <a:gd name="connsiteY5" fmla="*/ 1134319 h 1134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7512" h="1134319">
                <a:moveTo>
                  <a:pt x="0" y="0"/>
                </a:moveTo>
                <a:lnTo>
                  <a:pt x="2974693" y="0"/>
                </a:lnTo>
                <a:cubicBezTo>
                  <a:pt x="3285529" y="0"/>
                  <a:pt x="3537512" y="251983"/>
                  <a:pt x="3537512" y="562819"/>
                </a:cubicBezTo>
                <a:cubicBezTo>
                  <a:pt x="3537512" y="873655"/>
                  <a:pt x="3285529" y="1125638"/>
                  <a:pt x="2974693" y="1125638"/>
                </a:cubicBezTo>
                <a:lnTo>
                  <a:pt x="2974693" y="1134319"/>
                </a:lnTo>
                <a:lnTo>
                  <a:pt x="0" y="1134319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FD7B0639-5491-8CE9-8DFE-1B30D5C50ABE}"/>
              </a:ext>
            </a:extLst>
          </p:cNvPr>
          <p:cNvSpPr/>
          <p:nvPr/>
        </p:nvSpPr>
        <p:spPr>
          <a:xfrm flipH="1" flipV="1">
            <a:off x="4453962" y="3159889"/>
            <a:ext cx="243068" cy="243068"/>
          </a:xfrm>
          <a:prstGeom prst="rt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E903F0B-15DF-2046-131C-170F752DF446}"/>
              </a:ext>
            </a:extLst>
          </p:cNvPr>
          <p:cNvSpPr/>
          <p:nvPr/>
        </p:nvSpPr>
        <p:spPr>
          <a:xfrm>
            <a:off x="3199255" y="2123954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F7E8808-0D16-B7D6-78D0-230B64E44BFE}"/>
              </a:ext>
            </a:extLst>
          </p:cNvPr>
          <p:cNvSpPr/>
          <p:nvPr/>
        </p:nvSpPr>
        <p:spPr>
          <a:xfrm>
            <a:off x="6960182" y="2123954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F884FE-8B85-5393-F68E-077C4AAC26BA}"/>
              </a:ext>
            </a:extLst>
          </p:cNvPr>
          <p:cNvSpPr/>
          <p:nvPr/>
        </p:nvSpPr>
        <p:spPr>
          <a:xfrm>
            <a:off x="10718401" y="2123954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893A32-9C2D-52DC-7A85-F8920AF699DF}"/>
              </a:ext>
            </a:extLst>
          </p:cNvPr>
          <p:cNvSpPr txBox="1"/>
          <p:nvPr/>
        </p:nvSpPr>
        <p:spPr>
          <a:xfrm>
            <a:off x="1053296" y="2123954"/>
            <a:ext cx="2027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Random Forest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3F7EEE-4036-B305-23AD-FCDEC3205BAF}"/>
              </a:ext>
            </a:extLst>
          </p:cNvPr>
          <p:cNvSpPr txBox="1"/>
          <p:nvPr/>
        </p:nvSpPr>
        <p:spPr>
          <a:xfrm>
            <a:off x="4808615" y="2123954"/>
            <a:ext cx="2027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Gradient Boosting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DC7920-ADC0-FF28-1C38-52BDA352893B}"/>
              </a:ext>
            </a:extLst>
          </p:cNvPr>
          <p:cNvSpPr txBox="1"/>
          <p:nvPr/>
        </p:nvSpPr>
        <p:spPr>
          <a:xfrm>
            <a:off x="8566834" y="2123954"/>
            <a:ext cx="2027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XG </a:t>
            </a:r>
            <a:br>
              <a:rPr lang="en-IN" sz="2800" b="1" dirty="0">
                <a:solidFill>
                  <a:schemeClr val="bg1"/>
                </a:solidFill>
              </a:rPr>
            </a:br>
            <a:r>
              <a:rPr lang="en-IN" sz="2800" b="1" dirty="0">
                <a:solidFill>
                  <a:schemeClr val="bg1"/>
                </a:solidFill>
              </a:rPr>
              <a:t>Boost </a:t>
            </a:r>
          </a:p>
        </p:txBody>
      </p:sp>
      <p:pic>
        <p:nvPicPr>
          <p:cNvPr id="30" name="Graphic 29" descr="Logarithmic Graph with solid fill">
            <a:extLst>
              <a:ext uri="{FF2B5EF4-FFF2-40B4-BE49-F238E27FC236}">
                <a16:creationId xmlns:a16="http://schemas.microsoft.com/office/drawing/2014/main" id="{A6038F0C-9DA2-0C44-8D7F-65EC1AE51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0133" y="2261118"/>
            <a:ext cx="630936" cy="630936"/>
          </a:xfrm>
          <a:prstGeom prst="rect">
            <a:avLst/>
          </a:prstGeom>
        </p:spPr>
      </p:pic>
      <p:pic>
        <p:nvPicPr>
          <p:cNvPr id="32" name="Graphic 31" descr="Scatterplot with solid fill">
            <a:extLst>
              <a:ext uri="{FF2B5EF4-FFF2-40B4-BE49-F238E27FC236}">
                <a16:creationId xmlns:a16="http://schemas.microsoft.com/office/drawing/2014/main" id="{9B5C8DA4-E69F-6238-7EA1-96D251F49C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1914" y="2261118"/>
            <a:ext cx="630936" cy="630936"/>
          </a:xfrm>
          <a:prstGeom prst="rect">
            <a:avLst/>
          </a:prstGeom>
        </p:spPr>
      </p:pic>
      <p:pic>
        <p:nvPicPr>
          <p:cNvPr id="34" name="Graphic 33" descr="Deciduous tree with solid fill">
            <a:extLst>
              <a:ext uri="{FF2B5EF4-FFF2-40B4-BE49-F238E27FC236}">
                <a16:creationId xmlns:a16="http://schemas.microsoft.com/office/drawing/2014/main" id="{214E662C-3F4C-CDA7-63D9-034D7A91E5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66422" y="2263557"/>
            <a:ext cx="626058" cy="62605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A1986B5-55B3-39F4-D6FC-EA4E0BE116DF}"/>
              </a:ext>
            </a:extLst>
          </p:cNvPr>
          <p:cNvSpPr txBox="1"/>
          <p:nvPr/>
        </p:nvSpPr>
        <p:spPr>
          <a:xfrm>
            <a:off x="948813" y="3494771"/>
            <a:ext cx="2830975" cy="165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2600" kern="1200" dirty="0"/>
              <a:t>weight - 0.31</a:t>
            </a:r>
          </a:p>
          <a:p>
            <a:pPr marL="342900" lvl="1" indent="-3429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2600" kern="1200" dirty="0"/>
              <a:t>cylinders  - 0.29</a:t>
            </a:r>
          </a:p>
          <a:p>
            <a:pPr marL="342900" lvl="1" indent="-3429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2600" kern="1200" dirty="0"/>
              <a:t>displacement - 0.12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A6D58-10E0-9557-7821-9CAD40B26B9D}"/>
              </a:ext>
            </a:extLst>
          </p:cNvPr>
          <p:cNvSpPr txBox="1"/>
          <p:nvPr/>
        </p:nvSpPr>
        <p:spPr>
          <a:xfrm>
            <a:off x="4701211" y="3494771"/>
            <a:ext cx="281287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2600" kern="1200" dirty="0"/>
              <a:t>weight  - 0.41</a:t>
            </a:r>
          </a:p>
          <a:p>
            <a:pPr marL="342900" lvl="1" indent="-3429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2600" kern="1200" dirty="0"/>
              <a:t>cylinders - 0.30</a:t>
            </a:r>
          </a:p>
          <a:p>
            <a:pPr marL="342900" lvl="1" indent="-3429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2600" kern="1200" dirty="0"/>
              <a:t>Year - 0.13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40EFEA-25CD-C9B6-DFAB-2032C93EE5C9}"/>
              </a:ext>
            </a:extLst>
          </p:cNvPr>
          <p:cNvSpPr txBox="1"/>
          <p:nvPr/>
        </p:nvSpPr>
        <p:spPr>
          <a:xfrm>
            <a:off x="8475913" y="3494771"/>
            <a:ext cx="279473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2600" kern="1200" dirty="0"/>
              <a:t>Cylinders - 0.83  </a:t>
            </a:r>
          </a:p>
          <a:p>
            <a:pPr marL="342900" lvl="1" indent="-3429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2600" kern="1200" dirty="0"/>
              <a:t>Year - 0.05   </a:t>
            </a:r>
          </a:p>
          <a:p>
            <a:pPr marL="342900" lvl="1" indent="-3429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2600" kern="1200" dirty="0"/>
              <a:t>Weight - 0.04</a:t>
            </a:r>
          </a:p>
        </p:txBody>
      </p:sp>
    </p:spTree>
    <p:extLst>
      <p:ext uri="{BB962C8B-B14F-4D97-AF65-F5344CB8AC3E}">
        <p14:creationId xmlns:p14="http://schemas.microsoft.com/office/powerpoint/2010/main" val="1651322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0000"/>
              </a:buClr>
            </a:pPr>
            <a:r>
              <a:rPr lang="en-US" dirty="0"/>
              <a:t>Random Forest is the best model for predicting mpg, with the highest Test R² , lowest Test RMSE ,and lowest Test MAE, ensuring accurate and reliable predictions on unseen data.</a:t>
            </a:r>
          </a:p>
          <a:p>
            <a:pPr>
              <a:buClr>
                <a:srgbClr val="FF0000"/>
              </a:buClr>
            </a:pPr>
            <a:r>
              <a:rPr lang="en-US" dirty="0"/>
              <a:t>Weight, cylinders, and year are the most </a:t>
            </a:r>
            <a:r>
              <a:rPr lang="en-US" dirty="0" err="1"/>
              <a:t>inflsuential</a:t>
            </a:r>
            <a:r>
              <a:rPr lang="en-US" dirty="0"/>
              <a:t> features affecting fuel efficiency. </a:t>
            </a:r>
          </a:p>
          <a:p>
            <a:pPr>
              <a:buClr>
                <a:srgbClr val="FF0000"/>
              </a:buClr>
            </a:pPr>
            <a:r>
              <a:rPr lang="en-US" dirty="0"/>
              <a:t>The dataset shows a diverse range of cars with varying fuel efficiencies, weights, and manufacturing years, reflecting trends in the automotive industry from 1970 to 1982.</a:t>
            </a:r>
          </a:p>
        </p:txBody>
      </p:sp>
    </p:spTree>
    <p:extLst>
      <p:ext uri="{BB962C8B-B14F-4D97-AF65-F5344CB8AC3E}">
        <p14:creationId xmlns:p14="http://schemas.microsoft.com/office/powerpoint/2010/main" val="1874056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B078-EB6E-AA36-2027-942FCF7FF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Business Implications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F9655-7677-C927-EF93-59B9BE57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17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9771C79-CE05-6E00-11BC-7E1744659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5158" y="1998465"/>
            <a:ext cx="982625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Design Optimization: Lightweight designs, smaller engines: RF (weight: 0.31, cylinders: 0.29), GB (weight: 0.41, cylinders: 0.30), XGB (cylinders: 0.83).Reduce weight by 500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lbs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~1–2 mpg increase (LR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coeff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-5.66).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Marketing Strategy: Highlight newer, lighter models with fewer cylinders (year 70–82, GB: 0.13; XGB cylinders: 0.83).Target eco-conscious buyers with high mpg.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Predictive Modeling: Use Random Forest for mpg predictions. Use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minimal error applications (e.g., cost estimation).</a:t>
            </a:r>
          </a:p>
        </p:txBody>
      </p:sp>
    </p:spTree>
    <p:extLst>
      <p:ext uri="{BB962C8B-B14F-4D97-AF65-F5344CB8AC3E}">
        <p14:creationId xmlns:p14="http://schemas.microsoft.com/office/powerpoint/2010/main" val="1475380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A7C2-7358-69AF-B98C-0B9E36BA3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	Limitations 	 			Future Work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F708-03FB-050B-6DAB-B8101172B8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Clr>
                <a:srgbClr val="FF0000"/>
              </a:buClr>
            </a:pPr>
            <a:r>
              <a:rPr lang="en-US" sz="2400" dirty="0"/>
              <a:t>Outdated dataset (1970–1982), small size (397 entries).</a:t>
            </a:r>
          </a:p>
          <a:p>
            <a:pPr>
              <a:buClr>
                <a:srgbClr val="FF0000"/>
              </a:buClr>
            </a:pPr>
            <a:r>
              <a:rPr lang="en-US" sz="2400" dirty="0"/>
              <a:t>Imbalanced origin (bias toward American cars).</a:t>
            </a:r>
          </a:p>
          <a:p>
            <a:pPr>
              <a:buClr>
                <a:srgbClr val="FF0000"/>
              </a:buClr>
            </a:pPr>
            <a:r>
              <a:rPr lang="en-US" sz="2400" dirty="0"/>
              <a:t>Models need tuning, Linear Regression underperforms.</a:t>
            </a:r>
          </a:p>
          <a:p>
            <a:pPr>
              <a:buClr>
                <a:srgbClr val="FF0000"/>
              </a:buClr>
            </a:pPr>
            <a:r>
              <a:rPr lang="en-US" sz="2400" dirty="0"/>
              <a:t>Lack of temporal dynamics (e.g., oil crises, regulations).</a:t>
            </a:r>
          </a:p>
          <a:p>
            <a:pPr marL="0" indent="0">
              <a:buClr>
                <a:srgbClr val="FF0000"/>
              </a:buClr>
              <a:buNone/>
            </a:pP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DAF0A-B1D4-176F-B211-DB92DE55CC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0000"/>
              </a:buClr>
            </a:pPr>
            <a:r>
              <a:rPr lang="en-US" sz="2400" dirty="0"/>
              <a:t>Update dataset with modern cars, add features (e.g., fuel type).</a:t>
            </a:r>
          </a:p>
          <a:p>
            <a:pPr>
              <a:buClr>
                <a:srgbClr val="FF0000"/>
              </a:buClr>
            </a:pPr>
            <a:r>
              <a:rPr lang="en-US" sz="2400" dirty="0"/>
              <a:t>Build business tools (e.g., mpg prediction dashboard).</a:t>
            </a:r>
          </a:p>
          <a:p>
            <a:pPr>
              <a:buClr>
                <a:srgbClr val="FF0000"/>
              </a:buClr>
            </a:pPr>
            <a:r>
              <a:rPr lang="en-US" sz="2400" dirty="0"/>
              <a:t>Balance origin data (e.g., oversampling, region-specific models).</a:t>
            </a:r>
          </a:p>
          <a:p>
            <a:pPr>
              <a:buClr>
                <a:srgbClr val="FF0000"/>
              </a:buClr>
            </a:pPr>
            <a:r>
              <a:rPr lang="en-US" sz="2400" dirty="0"/>
              <a:t>Enhance Models</a:t>
            </a:r>
          </a:p>
          <a:p>
            <a:pPr>
              <a:buClr>
                <a:srgbClr val="FF0000"/>
              </a:buClr>
            </a:pPr>
            <a:endParaRPr lang="en-US" sz="2400" dirty="0"/>
          </a:p>
          <a:p>
            <a:pPr>
              <a:buClr>
                <a:srgbClr val="FF0000"/>
              </a:buClr>
            </a:pPr>
            <a:endParaRPr lang="en-US" sz="2400" dirty="0"/>
          </a:p>
          <a:p>
            <a:pPr>
              <a:buClr>
                <a:srgbClr val="FF0000"/>
              </a:buClr>
            </a:pPr>
            <a:endParaRPr lang="en-US" sz="2400" dirty="0"/>
          </a:p>
          <a:p>
            <a:pPr>
              <a:buClr>
                <a:srgbClr val="FF0000"/>
              </a:buClr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A150C-5A78-3ED8-FDF0-B48EA584D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00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  <a:br>
              <a:rPr lang="en-US" b="1" dirty="0"/>
            </a:br>
            <a:r>
              <a:rPr lang="en-US" b="1" dirty="0"/>
              <a:t>Feel Free To ASK QUESTIONS!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98133" y="4869800"/>
            <a:ext cx="3087688" cy="1547812"/>
          </a:xfrm>
        </p:spPr>
        <p:txBody>
          <a:bodyPr/>
          <a:lstStyle/>
          <a:p>
            <a:pPr algn="ctr"/>
            <a:r>
              <a:rPr lang="en-US" b="1" dirty="0"/>
              <a:t>With guidance from 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Prof. Yue Gao</a:t>
            </a:r>
          </a:p>
        </p:txBody>
      </p:sp>
    </p:spTree>
    <p:extLst>
      <p:ext uri="{BB962C8B-B14F-4D97-AF65-F5344CB8AC3E}">
        <p14:creationId xmlns:p14="http://schemas.microsoft.com/office/powerpoint/2010/main" val="1945497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756</Words>
  <Application>Microsoft Office PowerPoint</Application>
  <PresentationFormat>Widescreen</PresentationFormat>
  <Paragraphs>174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Office Theme</vt:lpstr>
      <vt:lpstr>Predicting Fuel  Efficiency In Automobile </vt:lpstr>
      <vt:lpstr>Introduction</vt:lpstr>
      <vt:lpstr>Fuel Efficiency Trends: A Historical Data Analysis</vt:lpstr>
      <vt:lpstr>Research Gap &amp; Problem Statement</vt:lpstr>
      <vt:lpstr>Data Description</vt:lpstr>
      <vt:lpstr>Summary Statistics</vt:lpstr>
      <vt:lpstr>Methodology </vt:lpstr>
      <vt:lpstr>Correlation Matrix</vt:lpstr>
      <vt:lpstr>    Pair Plot of Key Features  </vt:lpstr>
      <vt:lpstr> MPG vs Horsepower </vt:lpstr>
      <vt:lpstr>PowerPoint Presentation</vt:lpstr>
      <vt:lpstr>PowerPoint Presentation</vt:lpstr>
      <vt:lpstr>Linear Regression Coefficients</vt:lpstr>
      <vt:lpstr>Model Performance Summary</vt:lpstr>
      <vt:lpstr>Feature Importance</vt:lpstr>
      <vt:lpstr>Conclusion</vt:lpstr>
      <vt:lpstr> Business Implications </vt:lpstr>
      <vt:lpstr>  Limitations      Future Work </vt:lpstr>
      <vt:lpstr>Thank you Feel Free To ASK QUESTIONS!</vt:lpstr>
    </vt:vector>
  </TitlesOfParts>
  <Company>Clark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Big Data Stat I</dc:title>
  <dc:creator>Yue Gao</dc:creator>
  <cp:lastModifiedBy>Kovuri, Karthik</cp:lastModifiedBy>
  <cp:revision>154</cp:revision>
  <dcterms:created xsi:type="dcterms:W3CDTF">2017-08-29T05:29:12Z</dcterms:created>
  <dcterms:modified xsi:type="dcterms:W3CDTF">2025-12-29T02:20:50Z</dcterms:modified>
</cp:coreProperties>
</file>